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4630400" cy="8229600"/>
  <p:notesSz cx="8229600" cy="14630400"/>
  <p:embeddedFontLst>
    <p:embeddedFont>
      <p:font typeface="Alexandria Semi Bold" panose="020B0604020202020204" charset="-78"/>
      <p:regular r:id="rId14"/>
    </p:embeddedFont>
    <p:embeddedFont>
      <p:font typeface="Sora Light" panose="020B0604020202020204" charset="0"/>
      <p:regular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66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07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D4871-5ECD-DD17-1A9B-CABFF393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8236A-F9AC-D4A6-E074-A73C7E1B5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81859-7771-0F43-3A65-2F4C6DB18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82BD6-03FE-BDB9-975B-FCFF407B8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91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363153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Brazil GDP Prediction: Machine Learning for Economic Intelligence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826198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Analysis using 65 years of World Bank data to predict Brazil's economic trajectory for strategic planning and long-term investment decisions.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249" y="137489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1481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Business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010025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Economic uncertainty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432459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Need for data-driven GDP forecasting.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85489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Multiple economic indicators must be considered.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277326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Long-term investment decisions depend on economic outlook.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78593" y="32607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Solution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78593" y="383356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Comprehensive World Bank dataset (65 years).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78593" y="425599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Machine learning models.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70973" y="4678431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Insights that lead to other approaches</a:t>
            </a:r>
            <a:endParaRPr lang="en-US" sz="1700" dirty="0"/>
          </a:p>
        </p:txBody>
      </p:sp>
      <p:pic>
        <p:nvPicPr>
          <p:cNvPr id="13" name="Picture 2" descr="Download World Bank Logo in SVG Vector or PNG File Format ...">
            <a:extLst>
              <a:ext uri="{FF2B5EF4-FFF2-40B4-BE49-F238E27FC236}">
                <a16:creationId xmlns:a16="http://schemas.microsoft.com/office/drawing/2014/main" id="{2AB4EF71-06D4-051E-A89D-2622869D4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7196" y="-346173"/>
            <a:ext cx="5163204" cy="344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0C83076-42DC-8208-DDF4-C0300591BC0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8000"/>
          </a:blip>
          <a:stretch>
            <a:fillRect/>
          </a:stretch>
        </p:blipFill>
        <p:spPr>
          <a:xfrm>
            <a:off x="2387391" y="5624036"/>
            <a:ext cx="9855617" cy="46247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BF3119B5-ABCE-172D-936F-5A223B832C24}"/>
              </a:ext>
            </a:extLst>
          </p:cNvPr>
          <p:cNvSpPr/>
          <p:nvPr/>
        </p:nvSpPr>
        <p:spPr>
          <a:xfrm>
            <a:off x="11724745" y="7882890"/>
            <a:ext cx="29056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https://databank.worldbank.org/reports.aspx?source=2&amp;series=NY.GDP.MKTP.CD</a:t>
            </a:r>
            <a:endParaRPr lang="en-US" sz="500" dirty="0"/>
          </a:p>
        </p:txBody>
      </p:sp>
      <p:pic>
        <p:nvPicPr>
          <p:cNvPr id="16" name="Picture 2" descr="Focus: mercado avalia que ciclo de alta da Selic encerrou; veja projeções  atualizadas">
            <a:extLst>
              <a:ext uri="{FF2B5EF4-FFF2-40B4-BE49-F238E27FC236}">
                <a16:creationId xmlns:a16="http://schemas.microsoft.com/office/drawing/2014/main" id="{AD665F32-6A9A-41C3-68AA-4BBBBFE2E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3822" y="4288351"/>
            <a:ext cx="2586368" cy="318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36508"/>
            <a:ext cx="5416510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Project Objectives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58309" y="2033826"/>
            <a:ext cx="4234101" cy="2851666"/>
          </a:xfrm>
          <a:prstGeom prst="roundRect">
            <a:avLst>
              <a:gd name="adj" fmla="val 3848"/>
            </a:avLst>
          </a:prstGeom>
          <a:solidFill>
            <a:srgbClr val="FF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58309" y="2010966"/>
            <a:ext cx="4234101" cy="91440"/>
          </a:xfrm>
          <a:prstGeom prst="roundRect">
            <a:avLst>
              <a:gd name="adj" fmla="val 9454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566630" y="1725097"/>
            <a:ext cx="617458" cy="617458"/>
          </a:xfrm>
          <a:prstGeom prst="roundRect">
            <a:avLst>
              <a:gd name="adj" fmla="val 14809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892" y="1879402"/>
            <a:ext cx="246936" cy="3087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6909" y="2548295"/>
            <a:ext cx="347591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Develop Accurate Models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86909" y="3010257"/>
            <a:ext cx="3776901" cy="1317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Forecast Brazil's GDP for the next 10 years using machine learning techniques and comprehensive economic indicators.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98150" y="2033826"/>
            <a:ext cx="4234101" cy="2851666"/>
          </a:xfrm>
          <a:prstGeom prst="roundRect">
            <a:avLst>
              <a:gd name="adj" fmla="val 3848"/>
            </a:avLst>
          </a:prstGeom>
          <a:solidFill>
            <a:srgbClr val="FF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198150" y="2010966"/>
            <a:ext cx="4234101" cy="91440"/>
          </a:xfrm>
          <a:prstGeom prst="roundRect">
            <a:avLst>
              <a:gd name="adj" fmla="val 9454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006471" y="1725097"/>
            <a:ext cx="617458" cy="617458"/>
          </a:xfrm>
          <a:prstGeom prst="roundRect">
            <a:avLst>
              <a:gd name="adj" fmla="val 14809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732" y="1879402"/>
            <a:ext cx="246936" cy="3087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6750" y="2548295"/>
            <a:ext cx="287345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Process &amp; Clean Data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5426750" y="3010257"/>
            <a:ext cx="3776901" cy="1317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Standardize 65 years of World Bank economic data, removing incomplete series and imputing missing values with K-NN.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9637990" y="2033826"/>
            <a:ext cx="4234101" cy="2851666"/>
          </a:xfrm>
          <a:prstGeom prst="roundRect">
            <a:avLst>
              <a:gd name="adj" fmla="val 3848"/>
            </a:avLst>
          </a:prstGeom>
          <a:solidFill>
            <a:srgbClr val="FF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637990" y="2010966"/>
            <a:ext cx="4234101" cy="91440"/>
          </a:xfrm>
          <a:prstGeom prst="roundRect">
            <a:avLst>
              <a:gd name="adj" fmla="val 9454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11446312" y="1725097"/>
            <a:ext cx="617458" cy="617458"/>
          </a:xfrm>
          <a:prstGeom prst="roundRect">
            <a:avLst>
              <a:gd name="adj" fmla="val 14809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1573" y="1879402"/>
            <a:ext cx="246936" cy="3087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66590" y="2548295"/>
            <a:ext cx="335327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Compare ML Algorithms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9866590" y="3010257"/>
            <a:ext cx="3776901" cy="1646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Evaluate multiple machine learning algorithms to identify the most effective for GDP prediction, including Neural Networks and traditional models.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758309" y="5399961"/>
            <a:ext cx="6454021" cy="2193012"/>
          </a:xfrm>
          <a:prstGeom prst="roundRect">
            <a:avLst>
              <a:gd name="adj" fmla="val 5004"/>
            </a:avLst>
          </a:prstGeom>
          <a:solidFill>
            <a:srgbClr val="FF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758309" y="5377101"/>
            <a:ext cx="6454021" cy="91440"/>
          </a:xfrm>
          <a:prstGeom prst="roundRect">
            <a:avLst>
              <a:gd name="adj" fmla="val 9454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3676531" y="5091232"/>
            <a:ext cx="617458" cy="617458"/>
          </a:xfrm>
          <a:prstGeom prst="roundRect">
            <a:avLst>
              <a:gd name="adj" fmla="val 14809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1792" y="5245537"/>
            <a:ext cx="246936" cy="30872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86909" y="5914430"/>
            <a:ext cx="3106103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Identify Key Indicators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986909" y="6376392"/>
            <a:ext cx="5996821" cy="987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Determine the most influential economic indicators affecting Brazil's GDP through rigorous correlation analysis.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7418070" y="5399961"/>
            <a:ext cx="6454021" cy="2193012"/>
          </a:xfrm>
          <a:prstGeom prst="roundRect">
            <a:avLst>
              <a:gd name="adj" fmla="val 5004"/>
            </a:avLst>
          </a:prstGeom>
          <a:solidFill>
            <a:srgbClr val="FF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2"/>
          <p:cNvSpPr/>
          <p:nvPr/>
        </p:nvSpPr>
        <p:spPr>
          <a:xfrm>
            <a:off x="7418070" y="5377101"/>
            <a:ext cx="6454021" cy="91440"/>
          </a:xfrm>
          <a:prstGeom prst="roundRect">
            <a:avLst>
              <a:gd name="adj" fmla="val 9454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10336292" y="5091232"/>
            <a:ext cx="617458" cy="617458"/>
          </a:xfrm>
          <a:prstGeom prst="roundRect">
            <a:avLst>
              <a:gd name="adj" fmla="val 14809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1553" y="5245537"/>
            <a:ext cx="246936" cy="30872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646670" y="5914430"/>
            <a:ext cx="3773448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Provide Actionable Insights</a:t>
            </a:r>
            <a:endParaRPr lang="en-US" sz="2100" dirty="0"/>
          </a:p>
        </p:txBody>
      </p:sp>
      <p:sp>
        <p:nvSpPr>
          <p:cNvPr id="32" name="Text 25"/>
          <p:cNvSpPr/>
          <p:nvPr/>
        </p:nvSpPr>
        <p:spPr>
          <a:xfrm>
            <a:off x="7646670" y="6376392"/>
            <a:ext cx="5996821" cy="987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Deliver reliable 10-year economic forecasts and strategic recommendations to support investment and policy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999" y="591383"/>
            <a:ext cx="5371743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Project Scope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33633" y="1832355"/>
            <a:ext cx="3029545" cy="673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65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705440" y="2760923"/>
            <a:ext cx="2685812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Historical Data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33633" y="3300753"/>
            <a:ext cx="3029545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Years of historical World Bank data (1960-2024) for comprehensive analysis.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08667" y="2337884"/>
            <a:ext cx="3029545" cy="673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1,521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4280474" y="3266452"/>
            <a:ext cx="2685812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Economic Variables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108667" y="3806282"/>
            <a:ext cx="3308912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Cleaned and refined economic variables used in the predictive models turns into: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1048" y="5108944"/>
            <a:ext cx="3029545" cy="673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10</a:t>
            </a:r>
            <a:endParaRPr lang="en-US" sz="5300" dirty="0"/>
          </a:p>
        </p:txBody>
      </p:sp>
      <p:sp>
        <p:nvSpPr>
          <p:cNvPr id="10" name="Text 8"/>
          <p:cNvSpPr/>
          <p:nvPr/>
        </p:nvSpPr>
        <p:spPr>
          <a:xfrm>
            <a:off x="1422855" y="6037513"/>
            <a:ext cx="2685812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Forecast Horizon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51048" y="6577342"/>
            <a:ext cx="3029545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Years for which GDP is predicted (2025-2035)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12724" y="1418235"/>
            <a:ext cx="2685812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Focus Areas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12724" y="1958064"/>
            <a:ext cx="631424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Absolute GDP forecasting (USD).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12724" y="2355971"/>
            <a:ext cx="631424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GDP growth rate predictions (%).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12724" y="2753878"/>
            <a:ext cx="631424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Economic indicator correlation analysis.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12724" y="3151785"/>
            <a:ext cx="631424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Metrics for performance comparison.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12724" y="3549692"/>
            <a:ext cx="6314242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quality optimization and strategic recommendation development.</a:t>
            </a: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630" y="4405239"/>
            <a:ext cx="5488819" cy="3264548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9EF80E7E-BA7D-0206-DF49-E1E6F3B62092}"/>
              </a:ext>
            </a:extLst>
          </p:cNvPr>
          <p:cNvSpPr/>
          <p:nvPr/>
        </p:nvSpPr>
        <p:spPr>
          <a:xfrm>
            <a:off x="4321949" y="5801626"/>
            <a:ext cx="2685812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Economic Variables</a:t>
            </a:r>
            <a:endParaRPr lang="en-US" sz="21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CAE87042-A6BA-B928-0A35-2B272131D893}"/>
              </a:ext>
            </a:extLst>
          </p:cNvPr>
          <p:cNvSpPr/>
          <p:nvPr/>
        </p:nvSpPr>
        <p:spPr>
          <a:xfrm>
            <a:off x="4150082" y="5023885"/>
            <a:ext cx="3029545" cy="673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696</a:t>
            </a:r>
            <a:endParaRPr lang="en-US" sz="53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9F537489-5264-736D-4905-EEB339C2F739}"/>
              </a:ext>
            </a:extLst>
          </p:cNvPr>
          <p:cNvSpPr/>
          <p:nvPr/>
        </p:nvSpPr>
        <p:spPr>
          <a:xfrm>
            <a:off x="6448295" y="4446313"/>
            <a:ext cx="3029545" cy="673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45.8%</a:t>
            </a:r>
            <a:endParaRPr lang="en-US" sz="5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918" y="573643"/>
            <a:ext cx="5082778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Methodology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75918" y="1715929"/>
            <a:ext cx="7778591" cy="193119"/>
          </a:xfrm>
          <a:prstGeom prst="roundRect">
            <a:avLst>
              <a:gd name="adj" fmla="val 4200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9037" y="2102168"/>
            <a:ext cx="254138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 Processing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9037" y="2612946"/>
            <a:ext cx="7392353" cy="92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Sourcing from World Bank DataBank, cleaning incomplete series (&gt;50% missing), imputing with K-NN (5 neighbors).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5597" y="3877747"/>
            <a:ext cx="7488912" cy="193119"/>
          </a:xfrm>
          <a:prstGeom prst="roundRect">
            <a:avLst>
              <a:gd name="adj" fmla="val 4200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603622" y="6229763"/>
            <a:ext cx="2557343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Modeling Approach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3622" y="6740541"/>
            <a:ext cx="7102673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Feature engineering for multivariate time series, MinMax normalization, temporal train-test split, and evaluation with RMSE, MAE, R² metrics.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55276" y="5730597"/>
            <a:ext cx="7199233" cy="193119"/>
          </a:xfrm>
          <a:prstGeom prst="roundRect">
            <a:avLst>
              <a:gd name="adj" fmla="val 4200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03556" y="4287146"/>
            <a:ext cx="254138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Quality Assurance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03556" y="4797924"/>
            <a:ext cx="6812994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Rigorous testing with 100-200 masked values to validate imputation methods, ensuring model reliability and accuracy for robust forecasts.</a:t>
            </a:r>
            <a:endParaRPr lang="en-US" sz="1500" dirty="0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E30BC74E-FBDE-30F5-AAED-A6489465C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965" y="564244"/>
            <a:ext cx="4615517" cy="285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B7606B6B-C3A0-ECA2-6B2A-119D74703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965" y="3877747"/>
            <a:ext cx="4979941" cy="297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916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Types of Analysis and Algorithms Applied</a:t>
            </a:r>
            <a:endParaRPr lang="en-US" sz="4450" dirty="0"/>
          </a:p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13" y="1413598"/>
            <a:ext cx="649962" cy="6499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3023" y="1596359"/>
            <a:ext cx="296608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Exploratory Analysis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333023" y="2082491"/>
            <a:ext cx="3270052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Assessed data quality, identified missing value patterns, and performed correlation analysis between key economic indicators to understand underlying relationships.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442" y="1278374"/>
            <a:ext cx="649962" cy="6499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79152" y="1461135"/>
            <a:ext cx="312289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Comparative Analysis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79152" y="1947267"/>
            <a:ext cx="3270052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Systematically evaluated algorithm performance across multiple machine learning approaches, five for each variable.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Ensuring statistical validation using various error metrics</a:t>
            </a:r>
            <a:endParaRPr lang="en-US" sz="1700" dirty="0"/>
          </a:p>
        </p:txBody>
      </p:sp>
      <p:sp>
        <p:nvSpPr>
          <p:cNvPr id="12" name="Text 5"/>
          <p:cNvSpPr/>
          <p:nvPr/>
        </p:nvSpPr>
        <p:spPr>
          <a:xfrm>
            <a:off x="3007280" y="4398850"/>
            <a:ext cx="319158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Classification Algorithms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3007280" y="4971660"/>
            <a:ext cx="401835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K-NN Imputation: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Employed for robust handling of missing data points across the extensive dataset.</a:t>
            </a:r>
            <a:endParaRPr lang="en-US" sz="1700" dirty="0"/>
          </a:p>
        </p:txBody>
      </p:sp>
      <p:sp>
        <p:nvSpPr>
          <p:cNvPr id="14" name="Text 7"/>
          <p:cNvSpPr/>
          <p:nvPr/>
        </p:nvSpPr>
        <p:spPr>
          <a:xfrm>
            <a:off x="3007280" y="6434224"/>
            <a:ext cx="401835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Ensemble Approach: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Used for comprehensive multiple model comparison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0749204" y="4042615"/>
            <a:ext cx="362914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Model Selection Strategy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10612041" y="4509461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Systematic comparison of 9 model variations.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10612041" y="5278605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Evaluated using R-squared, RMSE, and MAE metrics.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10612041" y="6047748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Identified the best performing algorithm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043" y="357812"/>
            <a:ext cx="1102066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Algorithms Applied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494037" y="2018846"/>
            <a:ext cx="340447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Neural Network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893" y="3718004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00"/>
              </a:lnSpc>
              <a:buSzPct val="100000"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Simple RNN: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Recurrent Neural Networks for sequential pattern recognition.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61473" y="4002994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00"/>
              </a:lnSpc>
              <a:buSzPct val="100000"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LSTM: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Long Short-Term Memory networks for capturing long-term dependencies.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12612" y="4832392"/>
            <a:ext cx="454189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00"/>
              </a:lnSpc>
              <a:buSzPct val="100000"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Architecture: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Multiple layers with dropout regularization to prevent overfitting and enhance generalization.</a:t>
            </a:r>
            <a:endParaRPr lang="en-US" sz="17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39" y="1262248"/>
            <a:ext cx="649962" cy="649962"/>
          </a:xfrm>
          <a:prstGeom prst="rect">
            <a:avLst/>
          </a:prstGeom>
        </p:spPr>
      </p:pic>
      <p:sp>
        <p:nvSpPr>
          <p:cNvPr id="16" name="Text 3"/>
          <p:cNvSpPr/>
          <p:nvPr/>
        </p:nvSpPr>
        <p:spPr>
          <a:xfrm>
            <a:off x="1224200" y="12956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Predictive Analysis for  multivariate variables</a:t>
            </a:r>
            <a:endParaRPr lang="en-US" sz="2200" dirty="0"/>
          </a:p>
        </p:txBody>
      </p:sp>
      <p:sp>
        <p:nvSpPr>
          <p:cNvPr id="17" name="Text 4"/>
          <p:cNvSpPr/>
          <p:nvPr/>
        </p:nvSpPr>
        <p:spPr>
          <a:xfrm>
            <a:off x="1791421" y="1876932"/>
            <a:ext cx="3270052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Utilized advanced time series forecasting with neural networks and regression models to generate 10-year GDP prediction horizon.</a:t>
            </a:r>
            <a:endParaRPr lang="en-US" sz="1700" dirty="0"/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B39121D4-BDE5-99BE-5620-9E0D84319E3D}"/>
              </a:ext>
            </a:extLst>
          </p:cNvPr>
          <p:cNvCxnSpPr>
            <a:cxnSpLocks/>
          </p:cNvCxnSpPr>
          <p:nvPr/>
        </p:nvCxnSpPr>
        <p:spPr>
          <a:xfrm flipV="1">
            <a:off x="8695554" y="1693010"/>
            <a:ext cx="528657" cy="311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FD7A7A69-1D72-C4B6-9285-15B85B78F714}"/>
              </a:ext>
            </a:extLst>
          </p:cNvPr>
          <p:cNvCxnSpPr>
            <a:cxnSpLocks/>
          </p:cNvCxnSpPr>
          <p:nvPr/>
        </p:nvCxnSpPr>
        <p:spPr>
          <a:xfrm>
            <a:off x="8719616" y="2313578"/>
            <a:ext cx="675894" cy="369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2">
            <a:extLst>
              <a:ext uri="{FF2B5EF4-FFF2-40B4-BE49-F238E27FC236}">
                <a16:creationId xmlns:a16="http://schemas.microsoft.com/office/drawing/2014/main" id="{D0AEF447-2202-36F8-BC32-37DD68E86AA5}"/>
              </a:ext>
            </a:extLst>
          </p:cNvPr>
          <p:cNvSpPr/>
          <p:nvPr/>
        </p:nvSpPr>
        <p:spPr>
          <a:xfrm>
            <a:off x="9395510" y="1380064"/>
            <a:ext cx="4336531" cy="45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  <a:buSzPct val="100000"/>
            </a:pPr>
            <a:r>
              <a:rPr lang="en-US" sz="1700" dirty="0"/>
              <a:t>4 models for Absolute values from GDP (US$)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DB48F073-14C6-CDE9-CDEB-D1DFBF5E12B2}"/>
              </a:ext>
            </a:extLst>
          </p:cNvPr>
          <p:cNvSpPr/>
          <p:nvPr/>
        </p:nvSpPr>
        <p:spPr>
          <a:xfrm>
            <a:off x="9539889" y="2682907"/>
            <a:ext cx="4192151" cy="45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  <a:buSzPct val="100000"/>
            </a:pPr>
            <a:r>
              <a:rPr lang="en-US" sz="1700" dirty="0"/>
              <a:t>4 models for values from GDP growth (%)</a:t>
            </a: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85EFC6BC-F996-9E67-F3AD-E66DDE7BD0DB}"/>
              </a:ext>
            </a:extLst>
          </p:cNvPr>
          <p:cNvSpPr/>
          <p:nvPr/>
        </p:nvSpPr>
        <p:spPr>
          <a:xfrm>
            <a:off x="475892" y="4709517"/>
            <a:ext cx="4018359" cy="2332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Verdana" panose="020B0604030504040204" pitchFamily="34" charset="0"/>
                <a:ea typeface="Verdana" panose="020B0604030504040204" pitchFamily="34" charset="0"/>
                <a:cs typeface="Sora Light" pitchFamily="34" charset="-120"/>
              </a:rPr>
              <a:t>First approach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- 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implementation with 50 units, sequence length 20</a:t>
            </a:r>
          </a:p>
          <a:p>
            <a:pPr marL="285750" indent="-285750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Verdana" panose="020B0604030504040204" pitchFamily="34" charset="0"/>
                <a:ea typeface="Verdana" panose="020B0604030504040204" pitchFamily="34" charset="0"/>
                <a:cs typeface="Sora Light" pitchFamily="34" charset="-120"/>
              </a:rPr>
              <a:t>Second approach </a:t>
            </a:r>
            <a:r>
              <a:rPr lang="en-US" sz="1600" dirty="0"/>
              <a:t>- 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More conservative with 32→16 units, dropout layers, smaller batches</a:t>
            </a:r>
          </a:p>
          <a:p>
            <a:pPr>
              <a:lnSpc>
                <a:spcPts val="2700"/>
              </a:lnSpc>
              <a:buSzPct val="100000"/>
            </a:pPr>
            <a:endParaRPr lang="en-US" sz="17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2CCC8F67-0899-791D-05BB-36586C23BC55}"/>
              </a:ext>
            </a:extLst>
          </p:cNvPr>
          <p:cNvSpPr/>
          <p:nvPr/>
        </p:nvSpPr>
        <p:spPr>
          <a:xfrm>
            <a:off x="5066123" y="5270990"/>
            <a:ext cx="4185008" cy="2060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Verdana" panose="020B0604030504040204" pitchFamily="34" charset="0"/>
                <a:ea typeface="Verdana" panose="020B0604030504040204" pitchFamily="34" charset="0"/>
                <a:cs typeface="Sora Light" pitchFamily="34" charset="-120"/>
              </a:rPr>
              <a:t>First approach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- 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implementation with 50 units, sequence length 20</a:t>
            </a:r>
          </a:p>
          <a:p>
            <a:pPr marL="285750" indent="-285750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Verdana" panose="020B0604030504040204" pitchFamily="34" charset="0"/>
                <a:ea typeface="Verdana" panose="020B0604030504040204" pitchFamily="34" charset="0"/>
                <a:cs typeface="Sora Light" pitchFamily="34" charset="-120"/>
              </a:rPr>
              <a:t>Second approach </a:t>
            </a:r>
            <a:r>
              <a:rPr lang="en-US" sz="1600" dirty="0"/>
              <a:t>- 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16 units with dropout, more conservative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">
            <a:extLst>
              <a:ext uri="{FF2B5EF4-FFF2-40B4-BE49-F238E27FC236}">
                <a16:creationId xmlns:a16="http://schemas.microsoft.com/office/drawing/2014/main" id="{2934DB8A-63E6-0F40-05B3-FDE42AE7B1D7}"/>
              </a:ext>
            </a:extLst>
          </p:cNvPr>
          <p:cNvSpPr/>
          <p:nvPr/>
        </p:nvSpPr>
        <p:spPr>
          <a:xfrm>
            <a:off x="8552837" y="4213815"/>
            <a:ext cx="2450167" cy="3279612"/>
          </a:xfrm>
          <a:prstGeom prst="roundRect">
            <a:avLst>
              <a:gd name="adj" fmla="val 8610"/>
            </a:avLst>
          </a:prstGeom>
          <a:gradFill>
            <a:gsLst>
              <a:gs pos="18000">
                <a:schemeClr val="accent1">
                  <a:lumMod val="5000"/>
                  <a:lumOff val="9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2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pt-BR"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580888" y="431483"/>
            <a:ext cx="797194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Model Performance Results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580888" y="1490972"/>
            <a:ext cx="35831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GDP Metrics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80888" y="2063781"/>
            <a:ext cx="6292572" cy="712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Best Model: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Simple RNN for Absolute GDP achieved </a:t>
            </a:r>
          </a:p>
          <a:p>
            <a:pPr algn="l">
              <a:lnSpc>
                <a:spcPts val="2700"/>
              </a:lnSpc>
              <a:buSzPct val="100000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      the highest R² score.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80888" y="284270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Not effective handling of large-scale economic data.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80888" y="3309902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Not captures long-term economic trends accurately.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80888" y="375672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predictions deteriorate as the models run</a:t>
            </a:r>
            <a:endParaRPr lang="en-US" sz="17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58DD2B-B139-3066-7BB8-AE2B0BFB9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822" y="687866"/>
            <a:ext cx="6094193" cy="363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hape 5">
            <a:extLst>
              <a:ext uri="{FF2B5EF4-FFF2-40B4-BE49-F238E27FC236}">
                <a16:creationId xmlns:a16="http://schemas.microsoft.com/office/drawing/2014/main" id="{C30F8D3B-F42A-7C98-EAC6-5D28C9BF28F3}"/>
              </a:ext>
            </a:extLst>
          </p:cNvPr>
          <p:cNvSpPr/>
          <p:nvPr/>
        </p:nvSpPr>
        <p:spPr>
          <a:xfrm>
            <a:off x="279385" y="4288092"/>
            <a:ext cx="2450167" cy="3205336"/>
          </a:xfrm>
          <a:prstGeom prst="roundRect">
            <a:avLst>
              <a:gd name="adj" fmla="val 8610"/>
            </a:avLst>
          </a:prstGeom>
          <a:gradFill flip="none" rotWithShape="1">
            <a:gsLst>
              <a:gs pos="71000">
                <a:schemeClr val="accent5">
                  <a:lumMod val="89000"/>
                </a:schemeClr>
              </a:gs>
              <a:gs pos="35000">
                <a:schemeClr val="accent5">
                  <a:lumMod val="89000"/>
                </a:schemeClr>
              </a:gs>
              <a:gs pos="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pt-BR"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BF2CDDBD-D738-4E5B-7FD1-9BD7550725C1}"/>
              </a:ext>
            </a:extLst>
          </p:cNvPr>
          <p:cNvSpPr/>
          <p:nvPr/>
        </p:nvSpPr>
        <p:spPr>
          <a:xfrm>
            <a:off x="3066375" y="4277670"/>
            <a:ext cx="2367664" cy="3215758"/>
          </a:xfrm>
          <a:prstGeom prst="roundRect">
            <a:avLst>
              <a:gd name="adj" fmla="val 861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pt-BR"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D75083E5-62AF-170F-781E-EE4406EC1380}"/>
              </a:ext>
            </a:extLst>
          </p:cNvPr>
          <p:cNvSpPr/>
          <p:nvPr/>
        </p:nvSpPr>
        <p:spPr>
          <a:xfrm>
            <a:off x="361888" y="4336599"/>
            <a:ext cx="2367664" cy="315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00"/>
              </a:lnSpc>
            </a:pPr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1º Try</a:t>
            </a:r>
          </a:p>
          <a:p>
            <a:pPr marL="0" indent="0">
              <a:lnSpc>
                <a:spcPts val="1900"/>
              </a:lnSpc>
              <a:buNone/>
            </a:pP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Absolute GDP Models: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1: R² = 0.3894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1:       R² = -1.6320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2: R² = 0.0696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2:       R² = -0.3660</a:t>
            </a:r>
          </a:p>
          <a:p>
            <a:pPr marL="0" indent="0">
              <a:lnSpc>
                <a:spcPts val="1900"/>
              </a:lnSpc>
              <a:buNone/>
            </a:pP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Growth Models: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3: R² = -0.5084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3:       R² = -1.0897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4: R² = -6.8943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3B862CA0-33C7-49B4-B1B2-3E35DF497C0F}"/>
              </a:ext>
            </a:extLst>
          </p:cNvPr>
          <p:cNvSpPr/>
          <p:nvPr/>
        </p:nvSpPr>
        <p:spPr>
          <a:xfrm>
            <a:off x="5770862" y="4255310"/>
            <a:ext cx="2230771" cy="3238118"/>
          </a:xfrm>
          <a:prstGeom prst="roundRect">
            <a:avLst>
              <a:gd name="adj" fmla="val 8610"/>
            </a:avLst>
          </a:prstGeom>
          <a:gradFill>
            <a:gsLst>
              <a:gs pos="18000">
                <a:schemeClr val="accent1">
                  <a:lumMod val="5000"/>
                  <a:lumOff val="95000"/>
                </a:schemeClr>
              </a:gs>
              <a:gs pos="9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pt-BR"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F3D95C2A-8340-5F55-CBD8-43A343D47488}"/>
              </a:ext>
            </a:extLst>
          </p:cNvPr>
          <p:cNvSpPr/>
          <p:nvPr/>
        </p:nvSpPr>
        <p:spPr>
          <a:xfrm>
            <a:off x="3128299" y="4300937"/>
            <a:ext cx="1907725" cy="1953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2º Try</a:t>
            </a:r>
          </a:p>
          <a:p>
            <a:pPr marL="0" indent="0">
              <a:lnSpc>
                <a:spcPts val="1900"/>
              </a:lnSpc>
              <a:buNone/>
            </a:pP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Absolute GDP Models: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1: R² = 0.5890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1:       R² = -8.8965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2: R² = -26.5017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2:       R² = -10.9181</a:t>
            </a:r>
          </a:p>
          <a:p>
            <a:pPr marL="0" indent="0">
              <a:lnSpc>
                <a:spcPts val="1900"/>
              </a:lnSpc>
              <a:buNone/>
            </a:pP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Growth Models: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3: R² = -3.0921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3:       R² = -0.2430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4: R² = -2.0159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E16F9528-290D-59D9-89DB-880B739C633E}"/>
              </a:ext>
            </a:extLst>
          </p:cNvPr>
          <p:cNvSpPr/>
          <p:nvPr/>
        </p:nvSpPr>
        <p:spPr>
          <a:xfrm>
            <a:off x="5783080" y="4288092"/>
            <a:ext cx="2180760" cy="1912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3º Try</a:t>
            </a:r>
          </a:p>
          <a:p>
            <a:pPr marL="0" indent="0">
              <a:lnSpc>
                <a:spcPts val="1900"/>
              </a:lnSpc>
              <a:buNone/>
            </a:pP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Absolute GDP Models: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1: R² = 0.4053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1:       R² = -0.5917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2: R² = -27.1107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2:       R² = -2.5392</a:t>
            </a:r>
          </a:p>
          <a:p>
            <a:pPr marL="0" indent="0">
              <a:lnSpc>
                <a:spcPts val="1900"/>
              </a:lnSpc>
              <a:buNone/>
            </a:pP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Growth Models: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3: R² = -4.4997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3:       R² = -0.2099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4: R² = -0.6975</a:t>
            </a: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51046253-A7D7-0046-564F-144221B3451A}"/>
              </a:ext>
            </a:extLst>
          </p:cNvPr>
          <p:cNvSpPr/>
          <p:nvPr/>
        </p:nvSpPr>
        <p:spPr>
          <a:xfrm>
            <a:off x="8763123" y="4440890"/>
            <a:ext cx="2239881" cy="2021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4º Try</a:t>
            </a:r>
          </a:p>
          <a:p>
            <a:pPr marL="0" indent="0">
              <a:lnSpc>
                <a:spcPts val="1900"/>
              </a:lnSpc>
              <a:buNone/>
            </a:pP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Absolute GDP Models: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1: R² = 0.2688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1:       R² = -0.7249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2: R² = -32.3929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2:       R² = -2.9632</a:t>
            </a:r>
          </a:p>
          <a:p>
            <a:pPr marL="0" indent="0">
              <a:lnSpc>
                <a:spcPts val="1900"/>
              </a:lnSpc>
              <a:buNone/>
            </a:pP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Growth Models: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3: R² = -4.4284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LSTM 3:       R² = -1.1302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 Simple RNN 4: R² = -0.8793</a:t>
            </a:r>
          </a:p>
          <a:p>
            <a:pPr marL="0" indent="0">
              <a:lnSpc>
                <a:spcPts val="1900"/>
              </a:lnSpc>
              <a:buNone/>
            </a:pP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8051-9F6B-9A8C-289F-251A7F6FA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92C9ADB-920D-D06C-5A94-C0235C0BE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00" y="1283126"/>
            <a:ext cx="7095230" cy="472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7FAA6556-CAC8-5EDF-3E12-8AD9837FD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424" y="2268108"/>
            <a:ext cx="7639155" cy="508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E8EC4215-11C1-F945-4672-EA3B493A52BF}"/>
              </a:ext>
            </a:extLst>
          </p:cNvPr>
          <p:cNvSpPr/>
          <p:nvPr/>
        </p:nvSpPr>
        <p:spPr>
          <a:xfrm>
            <a:off x="1317868" y="392762"/>
            <a:ext cx="797194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Accuracy of the executed models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3468575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818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Findings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597535" y="937840"/>
            <a:ext cx="4226838" cy="7073572"/>
          </a:xfrm>
          <a:prstGeom prst="roundRect">
            <a:avLst>
              <a:gd name="adj" fmla="val 3897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55943" y="3442645"/>
            <a:ext cx="121920" cy="4568767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45325" y="1147441"/>
            <a:ext cx="291345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 Quality Impact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9204" y="1897822"/>
            <a:ext cx="3641288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High-quality data preprocessing was critical. Removing 167 variables with &gt;50% missing data significantly improved model reliability and accuracy.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Only have 65 total data points, could not use sequential length  openly, after creating sequences it left just 45 sequences, and after split only 9 test.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Probably this was not the better case for this kind of data.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rgbClr val="3B3535"/>
              </a:solidFill>
              <a:latin typeface="Sora Light" pitchFamily="34" charset="0"/>
              <a:cs typeface="Sora Ligh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Curse of dimensionality for small dataset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12715" y="22895"/>
            <a:ext cx="4226838" cy="3753922"/>
          </a:xfrm>
          <a:prstGeom prst="roundRect">
            <a:avLst>
              <a:gd name="adj" fmla="val 3897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155654" y="22895"/>
            <a:ext cx="121920" cy="3753922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606878" y="33835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Model Insights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06878" y="880743"/>
            <a:ext cx="3641288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Growth rate predictions were more stable and reliable than absolute values. Feature correlation analysis successfully identified key economic drivers, providing deeper understanding for the next steps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768857" y="29783"/>
            <a:ext cx="4226957" cy="3753922"/>
          </a:xfrm>
          <a:prstGeom prst="roundRect">
            <a:avLst>
              <a:gd name="adj" fmla="val 3897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9749923" y="20861"/>
            <a:ext cx="121920" cy="3753922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983629" y="318105"/>
            <a:ext cx="308586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Challenges Identified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11516" y="707388"/>
            <a:ext cx="3641408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Limited time series length (65 years) impacted model training. High dimensionality necessitated careful feature selection. Economic volatility in Brazil also posed challenges to prediction accuracy, requiring robust models.</a:t>
            </a:r>
            <a:endParaRPr lang="en-US" sz="17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5B7ABCEF-DAC1-CD05-0E9C-1092355C7753}"/>
              </a:ext>
            </a:extLst>
          </p:cNvPr>
          <p:cNvSpPr/>
          <p:nvPr/>
        </p:nvSpPr>
        <p:spPr>
          <a:xfrm>
            <a:off x="5814196" y="3906714"/>
            <a:ext cx="3077048" cy="4190828"/>
          </a:xfrm>
          <a:prstGeom prst="roundRect">
            <a:avLst>
              <a:gd name="adj" fmla="val 861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pt-BR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F21B537F-4F8A-CD6F-9BCD-678889B2FDA4}"/>
              </a:ext>
            </a:extLst>
          </p:cNvPr>
          <p:cNvSpPr/>
          <p:nvPr/>
        </p:nvSpPr>
        <p:spPr>
          <a:xfrm>
            <a:off x="10594192" y="3906714"/>
            <a:ext cx="2933959" cy="4190828"/>
          </a:xfrm>
          <a:prstGeom prst="roundRect">
            <a:avLst>
              <a:gd name="adj" fmla="val 861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pt-BR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90EA3E2-248D-639C-304E-B3624C391924}"/>
              </a:ext>
            </a:extLst>
          </p:cNvPr>
          <p:cNvSpPr txBox="1"/>
          <p:nvPr/>
        </p:nvSpPr>
        <p:spPr>
          <a:xfrm>
            <a:off x="5922531" y="4904162"/>
            <a:ext cx="13614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  : 0.9999</a:t>
            </a:r>
          </a:p>
          <a:p>
            <a:r>
              <a:rPr lang="pt-BR" dirty="0"/>
              <a:t>2  : 0.9998</a:t>
            </a:r>
          </a:p>
          <a:p>
            <a:r>
              <a:rPr lang="pt-BR" dirty="0"/>
              <a:t>3  : 0.9993</a:t>
            </a:r>
          </a:p>
          <a:p>
            <a:r>
              <a:rPr lang="pt-BR" dirty="0"/>
              <a:t>4  : 0.9992</a:t>
            </a:r>
          </a:p>
          <a:p>
            <a:r>
              <a:rPr lang="pt-BR" dirty="0"/>
              <a:t>5  : 0.9980</a:t>
            </a:r>
          </a:p>
          <a:p>
            <a:r>
              <a:rPr lang="pt-BR" dirty="0"/>
              <a:t>6  : 0.9969</a:t>
            </a:r>
          </a:p>
          <a:p>
            <a:r>
              <a:rPr lang="pt-BR" dirty="0"/>
              <a:t>7  : 0.9964</a:t>
            </a:r>
          </a:p>
          <a:p>
            <a:r>
              <a:rPr lang="pt-BR" dirty="0"/>
              <a:t>8  : 0.9946</a:t>
            </a:r>
          </a:p>
          <a:p>
            <a:r>
              <a:rPr lang="pt-BR" dirty="0"/>
              <a:t>9  : 0.9945</a:t>
            </a:r>
          </a:p>
          <a:p>
            <a:r>
              <a:rPr lang="pt-BR" dirty="0"/>
              <a:t>10: 0.9920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F05CB73-035D-3B9F-4443-A0577FD86EEF}"/>
              </a:ext>
            </a:extLst>
          </p:cNvPr>
          <p:cNvSpPr txBox="1"/>
          <p:nvPr/>
        </p:nvSpPr>
        <p:spPr>
          <a:xfrm>
            <a:off x="7454739" y="4904162"/>
            <a:ext cx="12857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 1 : 0.0270</a:t>
            </a:r>
          </a:p>
          <a:p>
            <a:r>
              <a:rPr lang="pt-BR" dirty="0"/>
              <a:t> 2 : 0.0230</a:t>
            </a:r>
          </a:p>
          <a:p>
            <a:r>
              <a:rPr lang="pt-BR" dirty="0"/>
              <a:t> 3 : 0.0130</a:t>
            </a:r>
          </a:p>
          <a:p>
            <a:r>
              <a:rPr lang="pt-BR" dirty="0"/>
              <a:t> 4 : 0.0116</a:t>
            </a:r>
          </a:p>
          <a:p>
            <a:r>
              <a:rPr lang="pt-BR" dirty="0"/>
              <a:t> 5 : 0.0073</a:t>
            </a:r>
          </a:p>
          <a:p>
            <a:r>
              <a:rPr lang="pt-BR" dirty="0"/>
              <a:t> 6 : 0.0003</a:t>
            </a:r>
          </a:p>
          <a:p>
            <a:r>
              <a:rPr lang="pt-BR" dirty="0"/>
              <a:t> 7 : Nan</a:t>
            </a:r>
          </a:p>
          <a:p>
            <a:r>
              <a:rPr lang="pt-BR" dirty="0"/>
              <a:t> 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F96C9CD-D818-F3E2-702C-D4FDD2AE1BEA}"/>
              </a:ext>
            </a:extLst>
          </p:cNvPr>
          <p:cNvSpPr txBox="1"/>
          <p:nvPr/>
        </p:nvSpPr>
        <p:spPr>
          <a:xfrm>
            <a:off x="10691277" y="4786955"/>
            <a:ext cx="12857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   : 0.9798</a:t>
            </a:r>
          </a:p>
          <a:p>
            <a:r>
              <a:rPr lang="pt-BR" dirty="0"/>
              <a:t>2   : 0.9659</a:t>
            </a:r>
          </a:p>
          <a:p>
            <a:r>
              <a:rPr lang="pt-BR" dirty="0"/>
              <a:t>3   : 0.9425</a:t>
            </a:r>
          </a:p>
          <a:p>
            <a:r>
              <a:rPr lang="pt-BR" dirty="0"/>
              <a:t>4   : 0.8387</a:t>
            </a:r>
          </a:p>
          <a:p>
            <a:r>
              <a:rPr lang="pt-BR" dirty="0"/>
              <a:t>5   : 0.8315</a:t>
            </a:r>
          </a:p>
          <a:p>
            <a:r>
              <a:rPr lang="pt-BR" dirty="0"/>
              <a:t>6   : 0.8248</a:t>
            </a:r>
          </a:p>
          <a:p>
            <a:r>
              <a:rPr lang="pt-BR" dirty="0"/>
              <a:t>7   : 0.7747</a:t>
            </a:r>
          </a:p>
          <a:p>
            <a:r>
              <a:rPr lang="pt-BR" dirty="0"/>
              <a:t>8   : 0.7543</a:t>
            </a:r>
          </a:p>
          <a:p>
            <a:r>
              <a:rPr lang="pt-BR" dirty="0"/>
              <a:t>9   : 0.6980</a:t>
            </a:r>
          </a:p>
          <a:p>
            <a:r>
              <a:rPr lang="pt-BR" dirty="0"/>
              <a:t>10 : 0.6770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1354605-2127-6F04-60B3-0E7CDE548C42}"/>
              </a:ext>
            </a:extLst>
          </p:cNvPr>
          <p:cNvSpPr txBox="1"/>
          <p:nvPr/>
        </p:nvSpPr>
        <p:spPr>
          <a:xfrm>
            <a:off x="12261310" y="4790840"/>
            <a:ext cx="12857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 1  : 0.0109</a:t>
            </a:r>
          </a:p>
          <a:p>
            <a:r>
              <a:rPr lang="pt-BR" dirty="0"/>
              <a:t> 2  : 0.0101</a:t>
            </a:r>
          </a:p>
          <a:p>
            <a:r>
              <a:rPr lang="pt-BR" dirty="0"/>
              <a:t> 3  : 0.0101</a:t>
            </a:r>
          </a:p>
          <a:p>
            <a:r>
              <a:rPr lang="pt-BR" dirty="0"/>
              <a:t> 4  : 0.0069</a:t>
            </a:r>
          </a:p>
          <a:p>
            <a:r>
              <a:rPr lang="pt-BR" dirty="0"/>
              <a:t> 5  : 0.0065</a:t>
            </a:r>
          </a:p>
          <a:p>
            <a:r>
              <a:rPr lang="pt-BR" dirty="0"/>
              <a:t> 6  : 0.0027</a:t>
            </a:r>
          </a:p>
          <a:p>
            <a:r>
              <a:rPr lang="pt-BR" dirty="0"/>
              <a:t> 7  : Nan</a:t>
            </a:r>
          </a:p>
          <a:p>
            <a:r>
              <a:rPr lang="pt-BR" dirty="0"/>
              <a:t> </a:t>
            </a: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1F78EE0C-09F5-552C-AB64-04C1421B88C7}"/>
              </a:ext>
            </a:extLst>
          </p:cNvPr>
          <p:cNvSpPr/>
          <p:nvPr/>
        </p:nvSpPr>
        <p:spPr>
          <a:xfrm flipH="1">
            <a:off x="11018649" y="3658334"/>
            <a:ext cx="2197090" cy="625054"/>
          </a:xfrm>
          <a:prstGeom prst="roundRect">
            <a:avLst>
              <a:gd name="adj" fmla="val 25970"/>
            </a:avLst>
          </a:prstGeom>
          <a:solidFill>
            <a:srgbClr val="002060"/>
          </a:solidFill>
          <a:ln/>
        </p:spPr>
        <p:txBody>
          <a:bodyPr/>
          <a:lstStyle/>
          <a:p>
            <a:pPr algn="ctr"/>
            <a:r>
              <a:rPr lang="en-US" sz="15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GDP (%)</a:t>
            </a:r>
          </a:p>
          <a:p>
            <a:endParaRPr lang="pt-BR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06379B99-BBAA-5E61-C166-3A52FBD58D97}"/>
              </a:ext>
            </a:extLst>
          </p:cNvPr>
          <p:cNvSpPr/>
          <p:nvPr/>
        </p:nvSpPr>
        <p:spPr>
          <a:xfrm flipH="1">
            <a:off x="6202122" y="3661224"/>
            <a:ext cx="2436138" cy="625054"/>
          </a:xfrm>
          <a:prstGeom prst="roundRect">
            <a:avLst>
              <a:gd name="adj" fmla="val 25970"/>
            </a:avLst>
          </a:prstGeom>
          <a:solidFill>
            <a:srgbClr val="002060"/>
          </a:solidFill>
          <a:ln/>
        </p:spPr>
        <p:txBody>
          <a:bodyPr/>
          <a:lstStyle/>
          <a:p>
            <a:pPr algn="ctr"/>
            <a:r>
              <a:rPr lang="en-US" sz="15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GDP (US$)</a:t>
            </a:r>
          </a:p>
          <a:p>
            <a:endParaRPr lang="pt-BR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D6A4C2C2-78CF-2454-A4FF-47221697074F}"/>
              </a:ext>
            </a:extLst>
          </p:cNvPr>
          <p:cNvSpPr/>
          <p:nvPr/>
        </p:nvSpPr>
        <p:spPr>
          <a:xfrm flipH="1">
            <a:off x="8181769" y="3442645"/>
            <a:ext cx="3077048" cy="891062"/>
          </a:xfrm>
          <a:prstGeom prst="roundRect">
            <a:avLst>
              <a:gd name="adj" fmla="val 25970"/>
            </a:avLst>
          </a:prstGeom>
          <a:solidFill>
            <a:srgbClr val="28282F"/>
          </a:solidFill>
          <a:ln/>
        </p:spPr>
        <p:txBody>
          <a:bodyPr/>
          <a:lstStyle/>
          <a:p>
            <a:pPr algn="ctr"/>
            <a:r>
              <a:rPr lang="en-US" sz="17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Top 10: strongest and weakest GDP correlation</a:t>
            </a:r>
            <a:endParaRPr lang="pt-BR" sz="17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575" y="757833"/>
            <a:ext cx="6713934" cy="6713934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8BEDC8B4-BB85-8C86-2CA4-4AE38E404179}"/>
              </a:ext>
            </a:extLst>
          </p:cNvPr>
          <p:cNvSpPr/>
          <p:nvPr/>
        </p:nvSpPr>
        <p:spPr>
          <a:xfrm>
            <a:off x="1776651" y="110050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92F91E83-3177-765D-27AE-107E240339A0}"/>
              </a:ext>
            </a:extLst>
          </p:cNvPr>
          <p:cNvSpPr/>
          <p:nvPr/>
        </p:nvSpPr>
        <p:spPr>
          <a:xfrm>
            <a:off x="990587" y="405522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cs typeface="Alexandria Semi Bold" pitchFamily="34" charset="-120"/>
              </a:rPr>
              <a:t>¡Gracias! 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1208</Words>
  <Application>Microsoft Office PowerPoint</Application>
  <PresentationFormat>Personalizar</PresentationFormat>
  <Paragraphs>202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Verdana</vt:lpstr>
      <vt:lpstr>Sora Light</vt:lpstr>
      <vt:lpstr>Alexandria Semi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Heitor Viotto De Nesson</dc:creator>
  <cp:lastModifiedBy>Heitor Viotto De Nesson</cp:lastModifiedBy>
  <cp:revision>15</cp:revision>
  <dcterms:created xsi:type="dcterms:W3CDTF">2025-07-24T04:26:17Z</dcterms:created>
  <dcterms:modified xsi:type="dcterms:W3CDTF">2025-07-24T12:56:35Z</dcterms:modified>
</cp:coreProperties>
</file>